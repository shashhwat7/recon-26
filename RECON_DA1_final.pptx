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29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30A0-1EAB-972A-FC27-8B099122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C3F0D-4D72-A158-D5F4-512A60ECB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E478B-2FC2-6149-9480-64255A7FF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A380D-DC95-E3D6-C865-0521410618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26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C1C0E-6F95-86B7-6604-6DCAD0AC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4326D-7C87-EAF1-554D-4703B0DF5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CCED7-0D45-7D1B-6D41-5C85E2D39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37C17-9F8A-3DEC-6E33-B754F71BCC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74352" y="640080"/>
            <a:ext cx="822960" cy="27432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97312" y="640080"/>
            <a:ext cx="822960" cy="73152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74352" y="667512"/>
            <a:ext cx="182880" cy="777240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97312" y="640080"/>
            <a:ext cx="274320" cy="758952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320272" y="713232"/>
            <a:ext cx="91440" cy="777240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9857232" y="1399032"/>
            <a:ext cx="914400" cy="45720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71632" y="1399032"/>
            <a:ext cx="640080" cy="91440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01200" y="594360"/>
            <a:ext cx="146304" cy="146304"/>
          </a:xfrm>
          <a:prstGeom prst="ellipse">
            <a:avLst/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24160" y="566928"/>
            <a:ext cx="146304" cy="146304"/>
          </a:xfrm>
          <a:prstGeom prst="ellipse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247120" y="640080"/>
            <a:ext cx="146304" cy="146304"/>
          </a:xfrm>
          <a:prstGeom prst="ellipse">
            <a:avLst/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784080" y="1371600"/>
            <a:ext cx="146304" cy="146304"/>
          </a:xfrm>
          <a:prstGeom prst="ellipse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1325880"/>
            <a:ext cx="146304" cy="146304"/>
          </a:xfrm>
          <a:prstGeom prst="ellipse">
            <a:avLst/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338560" y="1417320"/>
            <a:ext cx="146304" cy="146304"/>
          </a:xfrm>
          <a:prstGeom prst="ellipse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19431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0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ASSIGNMENT 1  ·  BCSE306L  ·  B.TECH (AI)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35458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RECON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Autonomous Multi-Source Competitive Intelligence System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temporal confidence fusion + absence-of-signal detection for strategic anticipation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761626"/>
            <a:ext cx="5029200" cy="0"/>
          </a:xfrm>
          <a:prstGeom prst="line">
            <a:avLst/>
          </a:prstGeom>
          <a:noFill/>
          <a:ln w="25400">
            <a:solidFill>
              <a:srgbClr val="D98A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0977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bg1"/>
                </a:solidFill>
              </a:rPr>
              <a:t>Submitted by: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Akshay Vigneshwar K 24BRS1036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S Nishanth 24BRS1118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Shashwat Srinivasan Gopi 24BRS1154</a:t>
            </a:r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Dr. Vijayaprabakaran K   |   Submission: DA1 Report   |   Team members 2–3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TL;DR — Why RECON, in three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3911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3911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9476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Well-motivated &amp; novel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2313432"/>
            <a:ext cx="9646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is a real, intensifying market. Practitioners spend 33% of their time on research and 44% struggle to gather intel in time (Crayon). Yet no published system fuses GitHub + jobs + patents + news with cross-source temporal confidence and absence-of-signal detection.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54787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74520" y="3456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Literature validates every block — and confirms the gap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74520" y="3822192"/>
            <a:ext cx="9646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verifiable papers (majority 2023–2026, IEEE/ACM/Elsevier/Springer/ACL) support each building block, but always single-source and in isolation. No end-to-end, confidence-quantified brief generator exists.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505663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5056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874520" y="49651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Feasible for a student team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74520" y="5330952"/>
            <a:ext cx="9646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(~22.7M params, 384-dim) runs inference-only on CPU. GitHub API, USPTO Open Data Portal, and RSS are free. LinkedIn scraping is the binding legal risk → replaced by Adzuna / USAJobs APIs.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findings that frame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2148840"/>
          </a:xfrm>
          <a:prstGeom prst="roundRect">
            <a:avLst>
              <a:gd name="adj" fmla="val 340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40841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domain is quantifiable, the pain is documented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834640"/>
            <a:ext cx="4779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Crayon's State of CI (1,000–1,200+ practitioners) establishes that markets are intensifying and timeliness is the bottleneck — precisely the manual-monitoring burden RECON automates.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783080"/>
            <a:ext cx="5364328" cy="2148840"/>
          </a:xfrm>
          <a:prstGeom prst="roundRect">
            <a:avLst>
              <a:gd name="adj" fmla="val 340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53048" y="2057400"/>
            <a:ext cx="566928" cy="566928"/>
          </a:xfrm>
          <a:prstGeom prst="ellipse">
            <a:avLst/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53048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284568" y="2039112"/>
            <a:ext cx="40841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component has strong, citable precedent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71336" y="2834640"/>
            <a:ext cx="4779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only in isolation: patents-only, jobs-only, OSS-only, or news-only. No work fuses them for the same set of firms.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64328" cy="2148840"/>
          </a:xfrm>
          <a:prstGeom prst="roundRect">
            <a:avLst>
              <a:gd name="adj" fmla="val 340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566928" cy="566928"/>
          </a:xfrm>
          <a:prstGeom prst="ellipse">
            <a:avLst/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4462272"/>
            <a:ext cx="40841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novel contribution is architectural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5257800"/>
            <a:ext cx="4779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temporal confidence fusion + absence-of-signal ("silence") detection, ending in LLM-generated, confidence-scored briefs — a combination absent from the surveyed literature.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4206240"/>
            <a:ext cx="5364328" cy="2148840"/>
          </a:xfrm>
          <a:prstGeom prst="roundRect">
            <a:avLst>
              <a:gd name="adj" fmla="val 340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53048" y="4480560"/>
            <a:ext cx="566928" cy="566928"/>
          </a:xfrm>
          <a:prstGeom prst="ellipse">
            <a:avLst/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53048" y="4480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84568" y="4462272"/>
            <a:ext cx="40841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Feasibility is high but legally constrained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71336" y="5257800"/>
            <a:ext cx="4779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trivial; the binding risk is LinkedIn's anti-scraping ToS, which mandates compliant API fallbacks (Adzuna / USAJobs).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PROBLEM IDENTIFICATION — DOMAIN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real, intensifying market — reported as a range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5899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1B2A3A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0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(report the range, flag the conflict)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INR 60–80B</a:t>
            </a:r>
            <a:endParaRPr lang="en-US" sz="4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mid-2020s CI market, at double-digit CAGR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Intelligence:  INR 59B (2025), 19.96% CAGR → INR 146B by 2030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Insights:  INR 71B (2025) → INR 4.03B by 2034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"CI industry":  INR 82B (2023) → INR 168B by 2030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06440" y="1783080"/>
            <a:ext cx="275828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89320" y="1965960"/>
            <a:ext cx="2392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98A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007608" y="2807208"/>
            <a:ext cx="2355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 practitioners' time is spent conducting research (2021)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84768" y="1783080"/>
            <a:ext cx="275828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67648" y="1965960"/>
            <a:ext cx="2392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98A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44%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085936" y="2807208"/>
            <a:ext cx="2355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it's a struggle to gather intel in a timely manner (2021)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3977640"/>
            <a:ext cx="275828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9320" y="4160520"/>
            <a:ext cx="2392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98A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59%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007608" y="5001768"/>
            <a:ext cx="2355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their markets got much more competitive — +16% since 2020 (2022)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84768" y="3977640"/>
            <a:ext cx="275828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67648" y="4160520"/>
            <a:ext cx="2392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98A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61%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085936" y="5001768"/>
            <a:ext cx="2355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CI made a direct impact on revenue (2021)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Crayon State of Competitive Intelligence (the industry's longest-running practitioner survey). Market estimates diverge by definition and are reported as a range with the conflict explicitly flagged.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PROBLEM IDENTIFICATION — STAKEHOLDERS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it's for, and the decision it supports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33574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33574" cy="128016"/>
          </a:xfrm>
          <a:prstGeom prst="roundRect">
            <a:avLst>
              <a:gd name="adj" fmla="val 35714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49667" y="2148840"/>
            <a:ext cx="731520" cy="731520"/>
          </a:xfrm>
          <a:prstGeom prst="ellipse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49667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B2B startup founders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566160"/>
            <a:ext cx="2204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where to differentiate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2254" y="1828800"/>
            <a:ext cx="2533574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02254" y="1828800"/>
            <a:ext cx="2533574" cy="128016"/>
          </a:xfrm>
          <a:prstGeom prst="roundRect">
            <a:avLst>
              <a:gd name="adj" fmla="val 35714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3281" y="2148840"/>
            <a:ext cx="731520" cy="731520"/>
          </a:xfrm>
          <a:prstGeom prst="ellipse">
            <a:avLst/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03281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39414" y="301752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VC / PE analysts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846" y="3566160"/>
            <a:ext cx="2204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portfolio &amp; competitive threats for diligence and timing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5868" y="1828800"/>
            <a:ext cx="2533574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55868" y="1828800"/>
            <a:ext cx="2533574" cy="128016"/>
          </a:xfrm>
          <a:prstGeom prst="roundRect">
            <a:avLst>
              <a:gd name="adj" fmla="val 35714"/>
            </a:avLst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56895" y="2148840"/>
            <a:ext cx="731520" cy="731520"/>
          </a:xfrm>
          <a:prstGeom prst="ellipse">
            <a:avLst/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56895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93028" y="301752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 managers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0460" y="3566160"/>
            <a:ext cx="2204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roadmap and feature-prioritization calls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09481" y="1828800"/>
            <a:ext cx="2533574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09481" y="1828800"/>
            <a:ext cx="2533574" cy="128016"/>
          </a:xfrm>
          <a:prstGeom prst="roundRect">
            <a:avLst>
              <a:gd name="adj" fmla="val 35714"/>
            </a:avLst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10508" y="2148840"/>
            <a:ext cx="731520" cy="731520"/>
          </a:xfrm>
          <a:prstGeom prst="ellipse">
            <a:avLst/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10508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246641" y="301752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CI analysts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74073" y="3566160"/>
            <a:ext cx="2204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battlecards and briefs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B2A3A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0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IT SUPPORTS — STRATEGIC ANTICIPATION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074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"Which tracked competitor is about to move (new product, new market, new tech bet), how confident are we, and how soon should we act?"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" y="60533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scarce resource is analyst time on manual monitoring — exactly what RECON automates.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LITERATURE SURVEY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 verifiable references across six clusters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81858" y="212140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81858" y="212140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refs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670048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Embeddings &amp; Clustering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15468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SBERT, MiniLM, HDBSCAN, BERTopic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3458" y="182880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82058" y="2084832"/>
            <a:ext cx="457200" cy="457200"/>
          </a:xfrm>
          <a:prstGeom prst="ellipse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82058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86677" y="212140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86677" y="212140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refs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09490" y="2670048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Patent Mining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9490" y="315468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PatentBERT, PatentSBERTa, PatentNet, DynaPTI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58277" y="182880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86877" y="2084832"/>
            <a:ext cx="457200" cy="457200"/>
          </a:xfrm>
          <a:prstGeom prst="ellipse">
            <a:avLst/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86877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91495" y="212140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91495" y="212140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refs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4309" y="2670048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 / Job Extraction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4309" y="315468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Job2Skills, SkillSpan, fine-grained skill NER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4279392"/>
            <a:ext cx="457200" cy="457200"/>
          </a:xfrm>
          <a:prstGeom prst="ellipse">
            <a:avLst/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981858" y="43159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81858" y="431596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refs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" y="4864608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OSS / GitHub Signals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4672" y="53492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GitHub-funding study, OSS innovation proxies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53458" y="402336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82058" y="4279392"/>
            <a:ext cx="457200" cy="457200"/>
          </a:xfrm>
          <a:prstGeom prst="ellipse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82058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786677" y="43159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86677" y="431596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refs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09490" y="4864608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 Fusion &amp; Temporal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609490" y="53492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Dempster–Shafer, Embed2Detect, TSAD survey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58277" y="402336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386877" y="4279392"/>
            <a:ext cx="457200" cy="457200"/>
          </a:xfrm>
          <a:prstGeom prst="ellipse">
            <a:avLst/>
          </a:prstGeom>
          <a:solidFill>
            <a:srgbClr val="1B6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86877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591495" y="43159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B6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591495" y="431596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refs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414309" y="4864608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 Synthesis &amp; Eval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414309" y="53492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ARGUE, LLM data-analyst survey, weak-signal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entries from 2023–2026 · Reputed venues: Elsevier TFSC / Information Fusion / KBS, Springer Scientometrics, ACM CSUR / SIGKDD, ACL EMNLP / NAACL, SIAM SDM, INFORMS. Only 4 preprints, used as supporting material (≤ 3 rule respected via peer-reviewed counterparts).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LITERATURE SURVEY — COMPARISON TABLE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Representative main rows (full table: 25 refs)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548872" cy="43891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Author, Year, 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 &amp;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Reimers &amp; Gurevych, 2019, EMNLP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SBERT — Siamese/triplet BERT sentence embeddings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10k-sentence search ~65h → ~5s; SOTA on 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not transfer to specialized domains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al., 2020, NeurIPS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 — deep self-attention distillation of BERT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~22M params retains &gt;99% BERT-base; 2.7× faster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Last-layer mimicking limits some transfer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McInnes et al., 2017, JOSS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HDBSCAN* — accelerated density clustering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~O(N log N); no need to predefine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min_cluster_size; high-dim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 &amp; Hsiang, 2020, WPI (Elsevier)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PatentBERT — multi-label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81.75% precision; &gt;7% over prior 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compute; English patents; imbalance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 et al., 2020, ACM SIGKDD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Job2Skills — market/salience-aware extraction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&gt;30% improvement over NER; deployed A/B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LinkedIn data; 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GitHub-funding, 2023, Org. 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Difference-in-differences on OSS engagement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funding-likelihood increase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Endogeneity; signaling vs real capability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Info-fusion, 2024, Information Fusion (Q1)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Dempster–Shafer evidence theory (BPA)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heterogeneity, conflict resolution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expensive; BPA design hard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Nakshatri et al., 2023, Findings of EMNLP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Temporal-guided news-stream clustering + 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 key-event discovery over static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cost; English news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ARGUE, 2024, arXiv (SIGIR-track)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framework for LLM report generation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/ relevance of generated reports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metric; human eval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comparison table (25 rows with Dataset column) is in the DA1 report. Rows shown are representative of each cluster.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DERIVED RESEARCH GAPS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gaps the literature leaves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24384C"/>
          </a:solidFill>
          <a:ln w="9525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956816"/>
            <a:ext cx="685800" cy="475488"/>
          </a:xfrm>
          <a:prstGeom prst="roundRect">
            <a:avLst>
              <a:gd name="adj" fmla="val 9615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isolation   </a:t>
            </a:r>
            <a:r>
              <a:rPr lang="en-US" sz="12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Patent-only, jobs-only, OSS-only, and news-only work dominates; none fuse GitHub + jobs + patents + news for the same firms.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24384C"/>
          </a:solidFill>
          <a:ln w="9525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907792"/>
            <a:ext cx="685800" cy="475488"/>
          </a:xfrm>
          <a:prstGeom prst="roundRect">
            <a:avLst>
              <a:gd name="adj" fmla="val 9615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90779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807208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cross-source temporal correlation   </a:t>
            </a:r>
            <a:r>
              <a:rPr lang="en-US" sz="12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methods exist within one stream, but not across heterogeneous source types with a co-occurrence window.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24384C"/>
          </a:solidFill>
          <a:ln w="9525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858768"/>
            <a:ext cx="685800" cy="438912"/>
          </a:xfrm>
          <a:prstGeom prst="roundRect">
            <a:avLst>
              <a:gd name="adj" fmla="val 10417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85876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758184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0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/ silence detection unexplored   </a:t>
            </a:r>
            <a:r>
              <a:rPr lang="en-US" sz="12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surveys address the presence of anomalies; "a competitor going quiet" as a positive strategic signal is absent from CI literature.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24384C"/>
          </a:solidFill>
          <a:ln w="9525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4773168"/>
            <a:ext cx="685800" cy="438912"/>
          </a:xfrm>
          <a:prstGeom prst="roundRect">
            <a:avLst>
              <a:gd name="adj" fmla="val 10417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77316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672584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end-to-end scrape → confidence → brief   </a:t>
            </a:r>
            <a:r>
              <a:rPr lang="en-US" sz="12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theory and LLM report generation exist separately; none are wired into one CI pipeline with quantified confidence.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513832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24384C"/>
          </a:solidFill>
          <a:ln w="9525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5687568"/>
            <a:ext cx="685800" cy="438912"/>
          </a:xfrm>
          <a:prstGeom prst="roundRect">
            <a:avLst>
              <a:gd name="adj" fmla="val 10417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68756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5586984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Strategic-inference evaluation missing   </a:t>
            </a:r>
            <a:r>
              <a:rPr lang="en-US" sz="12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exists for measuring whether an inferred "competitor strategy" is correct (retrospective announcement validation).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(silence detection) and cross-source temporal fusion (G2) are the two stages RECON contributes.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well-formed statement — four elements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078992"/>
          </a:xfrm>
          <a:prstGeom prst="roundRect">
            <a:avLst>
              <a:gd name="adj" fmla="val 678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847088"/>
            <a:ext cx="8595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continuously updated stream of heterogeneous public signals for N tracked firms: GitHub repo/commit metadata (10²–10³ events/day), job postings (10¹–10²/day), USPTO patent filings (sparse, 10⁰–10¹/week, multi-month lag), and blog/news RSS (10¹/day).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11094415" cy="1078992"/>
          </a:xfrm>
          <a:prstGeom prst="roundRect">
            <a:avLst>
              <a:gd name="adj" fmla="val 678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3145536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145536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3072384"/>
            <a:ext cx="8595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confidence-scored set of strategic-insight clusters + human-readable briefs with discrete threat levels (LOW / MEDIUM / HIGH), each fusing ≥ 2 independent source types and time-stamped with a lead estimate.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87952"/>
            <a:ext cx="11094415" cy="1078992"/>
          </a:xfrm>
          <a:prstGeom prst="roundRect">
            <a:avLst>
              <a:gd name="adj" fmla="val 678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4370832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370832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4297680"/>
            <a:ext cx="8595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labels for "competitor strategy"; signals are noisy, sparse, and temporally misaligned (patents lag; jobs lead; commits high-frequency); source-side rate limits and anti-bot / ToS restrictions (LinkedIn) bound acquisition.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13248"/>
            <a:ext cx="11094415" cy="1078992"/>
          </a:xfrm>
          <a:prstGeom prst="roundRect">
            <a:avLst>
              <a:gd name="adj" fmla="val 6780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5596128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596128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5522976"/>
            <a:ext cx="8595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period, ≥ 60% of firms' major announcements are preceded by a HIGH-confidence cluster ≥ 2 weeks in advance (lead-time recall@HIGH), beating a keyword-alert baseline by ≥ 20 pts, with cluster quality (DBCV/silhouette) above a TF-IDF+k-means ablation and precision@k ≥ 0.5.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· DA1 — Autonomous Multi-Source Competitive 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PROPOSED 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End-to-end pipeline — acquisition to output</a:t>
            </a:r>
            <a:endParaRPr lang="en-US" sz="3000" dirty="0"/>
          </a:p>
        </p:txBody>
      </p:sp>
      <p:pic>
        <p:nvPicPr>
          <p:cNvPr id="4" name="Image 0" descr="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114" y="1691640"/>
            <a:ext cx="4809467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2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(★): cross-source temporal confidence fusion + absence/silence detection — the two stages absent from prior single-source CI work.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ARCHITECTURE — MODULE I/O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shapes flowing through the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Raw signal record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1627632"/>
            <a:ext cx="7802575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0" y="1627632"/>
            <a:ext cx="752825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company, source_type, text, timestamp, entities[] 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03120" y="2139696"/>
            <a:ext cx="9144" cy="10058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4485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24485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MiniLM encoder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244852"/>
            <a:ext cx="7802575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0" y="2244852"/>
            <a:ext cx="752825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 →  float32[384]  per signal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2756916"/>
            <a:ext cx="9144" cy="10058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86207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Embedding matrix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0" y="2862072"/>
            <a:ext cx="7802575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0" y="2862072"/>
            <a:ext cx="752825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n_signals × 384 ]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03120" y="3374136"/>
            <a:ext cx="9144" cy="10058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47929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47929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HDBSCAN labels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3479292"/>
            <a:ext cx="7802575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0" y="3479292"/>
            <a:ext cx="752825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integer cluster ids   ( −1 = noise 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03120" y="3991356"/>
            <a:ext cx="9144" cy="10058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409651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0965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Cluster object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0" y="4096512"/>
            <a:ext cx="7802575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23360" y="4096512"/>
            <a:ext cx="752825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cluster_id, member_signals[], source_types_present[], time_span, base_score }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103120" y="4608576"/>
            <a:ext cx="9144" cy="10058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471373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471373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Fusion module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4713732"/>
            <a:ext cx="7802575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23360" y="4713732"/>
            <a:ext cx="752825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cluster_id, fused_confidence ∈ [0,1], threat_level }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103120" y="5225796"/>
            <a:ext cx="9144" cy="10058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533095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" y="533095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Claude synthesis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840480" y="5330952"/>
            <a:ext cx="7802575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0" y="5330952"/>
            <a:ext cx="752825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brief_text, threat_level, evidence_refs[] }  JSON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38251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is placed at the fusion stage (cross-source temporal correlation) and in a parallel absence detector.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· DA1 — Autonomous Multi-Source Competitive Intelligence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THE NOVELTY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Cross-source temporal fusion + silence detection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24384C"/>
          </a:solidFill>
          <a:ln w="15875">
            <a:solidFill>
              <a:srgbClr val="D98A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Confidence fusion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4983480" cy="1234440"/>
          </a:xfrm>
          <a:prstGeom prst="roundRect">
            <a:avLst>
              <a:gd name="adj" fmla="val 3704"/>
            </a:avLst>
          </a:prstGeom>
          <a:solidFill>
            <a:srgbClr val="1623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F0B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=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w₁·(# distinct source types)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w₂·(temporal co-occurrence &lt; Δt)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w₃·(patent presence) + w₄·(recency)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0B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w₅·(single-source penalty)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theme confirmed by ≥ 2 independent source types within a ~60-day window is far less likely to be a false positive than one in a single noisy stream. Coefficients tuned on the training split.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24384C"/>
          </a:solidFill>
          <a:ln w="15875">
            <a:solidFill>
              <a:srgbClr val="D98A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0116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Absence / silence detector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297180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 tracked company's per-source signal rate dropping below its historical baseline for k periods as a positive "silence" signal.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of anomaly detection (Darban et al., 2024) — but reframed: in CI, a competitor going quiet often precedes a major move (pre-launch radio silence, acquisition talks, reorg).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rolling baseline → z-score; quiet ≥ k periods → silence flag → feeds threat assignment.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prior work: fusion theory and anomaly detection exist separately; neither is wired into an end-to-end CI pipeline with quantified, cross-source confidence.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JUSTIFICATIONS — CITATIONS / HYPOTHESES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design choice, defended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38528"/>
            <a:ext cx="438912" cy="438912"/>
          </a:xfrm>
          <a:prstGeom prst="ellipse">
            <a:avLst/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810512"/>
            <a:ext cx="10332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 over TF-IDF  —  </a:t>
            </a: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(Reimers &amp; Gurevych, 2019) yields semantically meaningful vectors — paraphrases like "hiring ML infra engineers" vs "building a training platform" sit close in space. TF-IDF cannot capture this.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06624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907792"/>
            <a:ext cx="438912" cy="438912"/>
          </a:xfrm>
          <a:prstGeom prst="ellipse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17320" y="2779776"/>
            <a:ext cx="10332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over k-means  —  </a:t>
            </a: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strategic themes is unknown a priori and signals are noisy. HDBSCAN needs no k and labels noise explicitly (McInnes et al., 2017); it's the standard backend in BERTopic.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675888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3877056"/>
            <a:ext cx="438912" cy="438912"/>
          </a:xfrm>
          <a:prstGeom prst="ellipse">
            <a:avLst/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17320" y="3749040"/>
            <a:ext cx="10332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fusion increases precision  —  </a:t>
            </a: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Dempster–Shafer and evidence-fusion work (Liang 2022; Information Fusion 2024) show independent corroborating evidence reduces uncertainty.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645152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4846320"/>
            <a:ext cx="438912" cy="438912"/>
          </a:xfrm>
          <a:prstGeom prst="ellipse">
            <a:avLst/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17320" y="4718304"/>
            <a:ext cx="10332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windowing  —  </a:t>
            </a: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Event-detection literature (Embed2Detect 2021; Nakshatri 2023) shows temporal proximity is informative; RECON boosts confidence when signals co-occur within ~60 days.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614416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5815584"/>
            <a:ext cx="438912" cy="438912"/>
          </a:xfrm>
          <a:prstGeom prst="ellipse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7320" y="5687568"/>
            <a:ext cx="10332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 layer  —  </a:t>
            </a: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report-generation work (ARGUE 2024; data-analyst survey 2025) supports abstractive multi-doc briefs — with the caveat that faithfulness must be verified (hallucination risk).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· DA1 — Autonomous Multi-Source Competitive Intelligence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PLANNED EXPERIMENTAL 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Datasets, split, metrics, baselines, ablations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883664"/>
            <a:ext cx="1645920" cy="530352"/>
          </a:xfrm>
          <a:prstGeom prst="roundRect">
            <a:avLst>
              <a:gd name="adj" fmla="val 10345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8366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Datasets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810512"/>
            <a:ext cx="8915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public AI companies tracked retrospectively — GitHub via GH Archive, USPTO bulk / Open Data Portal, Wayback blog/news snapshots; a manually compiled announcement timeline (launches, funding, GA) as ground truth.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825496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8254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Split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752344"/>
            <a:ext cx="8915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— tune fusion coefficients on months 1–6, evaluate on months 7–9 (no look-ahead leakage).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602736"/>
            <a:ext cx="1645920" cy="530352"/>
          </a:xfrm>
          <a:prstGeom prst="roundRect">
            <a:avLst>
              <a:gd name="adj" fmla="val 10345"/>
            </a:avLst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60273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Metrics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529584"/>
            <a:ext cx="8915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of insights; lead time before announcement; DBCV &amp; silhouette for clusters; human-evaluation rubric (relevance, factuality, actionability) for brief quality.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4544568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5445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4471416"/>
            <a:ext cx="8915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Google-Alerts-style keyword alerts; single-source-only ablations; TF-IDF + k-means ablation.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5321808"/>
            <a:ext cx="1645920" cy="530352"/>
          </a:xfrm>
          <a:prstGeom prst="roundRect">
            <a:avLst>
              <a:gd name="adj" fmla="val 10345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32180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Ablations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60320" y="5248656"/>
            <a:ext cx="8915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each source type; remove temporal bonus; HDBSCAN → k-means; MiniLM → TF-IDF; remove absence detector.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· DA1 — Autonomous Multi-Source Competitive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FEASIBILITY NOTE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 is trivial; data access is mostly free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384-dim vectors, 256-token max, ~22.7M params, ~80MB. Inference-only (no training) → a laptop suffices for 5–10 companies.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— </a:t>
            </a: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variable expense. Briefs are a few thousand tokens each; daily synthesis for 10 companies is well under a few dollars/month. Batch API halves 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time — </a:t>
            </a:r>
            <a:r>
              <a:rPr lang="en-US" sz="12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3–4: ~8–10 weeks (2 acquisition + storage · 2 NLP/embedding/clustering · 2 fusion + absence · 1–2 briefs + dashboard · 2 evaluation).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87975" cy="4114800"/>
          </a:xfrm>
          <a:prstGeom prst="roundRect">
            <a:avLst>
              <a:gd name="adj" fmla="val 1778"/>
            </a:avLst>
          </a:prstGeom>
          <a:solidFill>
            <a:srgbClr val="1B2A3A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1965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0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2423160"/>
            <a:ext cx="201168" cy="201168"/>
          </a:xfrm>
          <a:prstGeom prst="ellipse">
            <a:avLst/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 </a:t>
            </a:r>
            <a:r>
              <a:rPr lang="en-US" sz="115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5,000 req/hr authenticated — ample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971800"/>
            <a:ext cx="201168" cy="201168"/>
          </a:xfrm>
          <a:prstGeom prst="ellipse">
            <a:avLst/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2880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Open Data Portal  </a:t>
            </a:r>
            <a:r>
              <a:rPr lang="en-US" sz="115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 &amp; public; ~60 req/key/min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3520440"/>
            <a:ext cx="201168" cy="201168"/>
          </a:xfrm>
          <a:prstGeom prst="ellipse">
            <a:avLst/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3429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via feedparser  </a:t>
            </a:r>
            <a:r>
              <a:rPr lang="en-US" sz="115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4069080"/>
            <a:ext cx="201168" cy="201168"/>
          </a:xfrm>
          <a:prstGeom prst="ellipse">
            <a:avLst/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Legacy PEDS API  </a:t>
            </a:r>
            <a:r>
              <a:rPr lang="en-US" sz="115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retired 14 Mar 2025 → target ODP instead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4617720"/>
            <a:ext cx="201168" cy="201168"/>
          </a:xfrm>
          <a:prstGeom prst="ellipse">
            <a:avLst/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0" y="4526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LinkedIn scraping  </a:t>
            </a:r>
            <a:r>
              <a:rPr lang="en-US" sz="115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ToS violation; hiQ v. LinkedIn injunction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29400" y="5166360"/>
            <a:ext cx="5029200" cy="621792"/>
          </a:xfrm>
          <a:prstGeom prst="roundRect">
            <a:avLst>
              <a:gd name="adj" fmla="val 7353"/>
            </a:avLst>
          </a:prstGeom>
          <a:solidFill>
            <a:srgbClr val="243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52120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0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Adzuna free tier (~1,000 calls/mo) + public USAJobs API, or cached historical job data — never live LinkedIn scraping.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· DA1 — Autonomous Multi-Source Competitive Intelligence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RISKS &amp; FALLBACKS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Identified risks, each with a mitigation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64328" cy="402336"/>
          </a:xfrm>
          <a:prstGeom prst="roundRect">
            <a:avLst>
              <a:gd name="adj" fmla="val 13636"/>
            </a:avLst>
          </a:prstGeom>
          <a:solidFill>
            <a:srgbClr val="C24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0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LinkedIn anti-bot / ToS violation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276856"/>
            <a:ext cx="490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Adzuna / USAJobs / Google-Jobs-style APIs; use cached historical postings.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364328" cy="402336"/>
          </a:xfrm>
          <a:prstGeom prst="roundRect">
            <a:avLst>
              <a:gd name="adj" fmla="val 13636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90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rate limits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648456"/>
            <a:ext cx="490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tokens, exponential backoff, 24h cadence, local caching.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364328" cy="402336"/>
          </a:xfrm>
          <a:prstGeom prst="roundRect">
            <a:avLst>
              <a:gd name="adj" fmla="val 13636"/>
            </a:avLst>
          </a:prstGeom>
          <a:solidFill>
            <a:srgbClr val="2E5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490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DOM changes breaking scrapers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020056"/>
            <a:ext cx="490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official APIs and RSS; isolate any scraping behind swappable adapters.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178308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8728" y="1783080"/>
            <a:ext cx="5364328" cy="402336"/>
          </a:xfrm>
          <a:prstGeom prst="roundRect">
            <a:avLst>
              <a:gd name="adj" fmla="val 13636"/>
            </a:avLst>
          </a:prstGeom>
          <a:solidFill>
            <a:srgbClr val="1D7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07328" y="1783080"/>
            <a:ext cx="490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 hallucination in briefs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07328" y="2276856"/>
            <a:ext cx="490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Claude to cite only retrieved evidence refs; add ARGUE-style faithfulness check; surface source snippets in the dashboard.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8728" y="315468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  <a:effectLst>
            <a:outerShdw blurRad="63500" dist="25400" dir="5400000" algn="bl" rotWithShape="0">
              <a:srgbClr val="8899A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5364328" cy="402336"/>
          </a:xfrm>
          <a:prstGeom prst="roundRect">
            <a:avLst>
              <a:gd name="adj" fmla="val 13636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07328" y="3154680"/>
            <a:ext cx="490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labeled ground truth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07328" y="3648456"/>
            <a:ext cx="4907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validation against a held-out announcement timeline; report DBCV / silhouette for unsupervised cluster quality.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· DA1 — Autonomous Multi-Source Competitive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CD46C-E392-3199-6886-6F4DD0C2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23FD28-857A-CC3D-37A4-FB4A3C832148}"/>
              </a:ext>
            </a:extLst>
          </p:cNvPr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11C20F-CC63-855F-B535-71842033B3CB}"/>
              </a:ext>
            </a:extLst>
          </p:cNvPr>
          <p:cNvSpPr/>
          <p:nvPr/>
        </p:nvSpPr>
        <p:spPr>
          <a:xfrm>
            <a:off x="132080" y="49580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 </a:t>
            </a:r>
            <a:endParaRPr lang="en-US" sz="3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525B3B2-43F0-AC93-EFD9-5D85ACCF2F79}"/>
              </a:ext>
            </a:extLst>
          </p:cNvPr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16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0E8879-6048-4BD4-1D78-7DE9C552E574}"/>
              </a:ext>
            </a:extLst>
          </p:cNvPr>
          <p:cNvSpPr txBox="1"/>
          <p:nvPr/>
        </p:nvSpPr>
        <p:spPr>
          <a:xfrm>
            <a:off x="407080" y="1318768"/>
            <a:ext cx="1137753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dirty="0"/>
              <a:t>1. Reimers &amp; </a:t>
            </a:r>
            <a:r>
              <a:rPr lang="en-IN" sz="2200" dirty="0" err="1"/>
              <a:t>Gurevych</a:t>
            </a:r>
            <a:r>
              <a:rPr lang="en-IN" sz="2200" dirty="0"/>
              <a:t>, 2019, EMNLP-IJCNLP — SBERT (Siamese/triplet BERT sentence embeddings)</a:t>
            </a:r>
          </a:p>
          <a:p>
            <a:pPr lvl="0"/>
            <a:r>
              <a:rPr lang="en-IN" sz="2200" dirty="0"/>
              <a:t>2. Wang et al., 2020, </a:t>
            </a:r>
            <a:r>
              <a:rPr lang="en-IN" sz="2200" dirty="0" err="1"/>
              <a:t>NeurIPS</a:t>
            </a:r>
            <a:r>
              <a:rPr lang="en-IN" sz="2200" dirty="0"/>
              <a:t> — </a:t>
            </a:r>
            <a:r>
              <a:rPr lang="en-IN" sz="2200" dirty="0" err="1"/>
              <a:t>MiniLM</a:t>
            </a:r>
            <a:r>
              <a:rPr lang="en-IN" sz="2200" dirty="0"/>
              <a:t> (deep self-attention distillation of BERT)</a:t>
            </a:r>
          </a:p>
          <a:p>
            <a:pPr lvl="0"/>
            <a:r>
              <a:rPr lang="en-IN" sz="2200" dirty="0"/>
              <a:t>3. McInnes, Healy &amp; </a:t>
            </a:r>
            <a:r>
              <a:rPr lang="en-IN" sz="2200" dirty="0" err="1"/>
              <a:t>Astels</a:t>
            </a:r>
            <a:r>
              <a:rPr lang="en-IN" sz="2200" dirty="0"/>
              <a:t>, 2017, JOSS/ICDMW — HDBSCAN* accelerated density clustering</a:t>
            </a:r>
          </a:p>
          <a:p>
            <a:pPr lvl="0"/>
            <a:r>
              <a:rPr lang="en-IN" sz="2200" dirty="0"/>
              <a:t>4. Grootendorst, 2022, </a:t>
            </a:r>
            <a:r>
              <a:rPr lang="en-IN" sz="2200" dirty="0" err="1"/>
              <a:t>arXiv</a:t>
            </a:r>
            <a:r>
              <a:rPr lang="en-IN" sz="2200" dirty="0"/>
              <a:t> — </a:t>
            </a:r>
            <a:r>
              <a:rPr lang="en-IN" sz="2200" dirty="0" err="1"/>
              <a:t>BERTopic</a:t>
            </a:r>
            <a:r>
              <a:rPr lang="en-IN" sz="2200" dirty="0"/>
              <a:t> (SBERT → UMAP → HDBSCAN → c-TF-IDF)</a:t>
            </a:r>
            <a:br>
              <a:rPr lang="en-IN" sz="2200" dirty="0"/>
            </a:br>
            <a:r>
              <a:rPr lang="en-IN" sz="2200" dirty="0"/>
              <a:t>5. Lee &amp; Hsiang, 2020, World Patent Information (Elsevier) — </a:t>
            </a:r>
            <a:r>
              <a:rPr lang="en-IN" sz="2200" dirty="0" err="1"/>
              <a:t>PatentBERT</a:t>
            </a:r>
            <a:br>
              <a:rPr lang="en-IN" sz="2200" dirty="0"/>
            </a:br>
            <a:r>
              <a:rPr lang="en-IN" sz="2200" dirty="0"/>
              <a:t>6. Choi et al., 2022, Technological Forecasting &amp; Social Change (Elsevier) — transformer + Diff2Vec patent landscaping</a:t>
            </a:r>
            <a:br>
              <a:rPr lang="en-IN" sz="2200" dirty="0"/>
            </a:br>
            <a:r>
              <a:rPr lang="en-IN" sz="2200" dirty="0"/>
              <a:t>7. </a:t>
            </a:r>
            <a:r>
              <a:rPr lang="en-IN" sz="2200" dirty="0" err="1"/>
              <a:t>Bekamiri</a:t>
            </a:r>
            <a:r>
              <a:rPr lang="en-IN" sz="2200" dirty="0"/>
              <a:t>, Hain &amp; </a:t>
            </a:r>
            <a:r>
              <a:rPr lang="en-IN" sz="2200" dirty="0" err="1"/>
              <a:t>Jurowetzki</a:t>
            </a:r>
            <a:r>
              <a:rPr lang="en-IN" sz="2200" dirty="0"/>
              <a:t>, 2024, Technological Forecasting &amp; Social Change (Elsevier) — </a:t>
            </a:r>
            <a:r>
              <a:rPr lang="en-IN" sz="2200" dirty="0" err="1"/>
              <a:t>PatentSBERTa</a:t>
            </a:r>
            <a:br>
              <a:rPr lang="en-IN" sz="2200" dirty="0"/>
            </a:br>
            <a:r>
              <a:rPr lang="en-IN" sz="2200" dirty="0"/>
              <a:t>8. </a:t>
            </a:r>
            <a:r>
              <a:rPr lang="en-IN" sz="2200" dirty="0" err="1"/>
              <a:t>Roudsari</a:t>
            </a:r>
            <a:r>
              <a:rPr lang="en-IN" sz="2200" dirty="0"/>
              <a:t> et al., 2022, </a:t>
            </a:r>
            <a:r>
              <a:rPr lang="en-IN" sz="2200" dirty="0" err="1"/>
              <a:t>Scientometrics</a:t>
            </a:r>
            <a:r>
              <a:rPr lang="en-IN" sz="2200" dirty="0"/>
              <a:t> (Springer) — </a:t>
            </a:r>
            <a:r>
              <a:rPr lang="en-IN" sz="2200" dirty="0" err="1"/>
              <a:t>PatentNet</a:t>
            </a:r>
            <a:r>
              <a:rPr lang="en-IN" sz="2200" dirty="0"/>
              <a:t> (multi-label classification)</a:t>
            </a:r>
            <a:br>
              <a:rPr lang="en-IN" sz="2200" dirty="0"/>
            </a:br>
            <a:r>
              <a:rPr lang="en-IN" sz="2200" dirty="0"/>
              <a:t>9. NLP-in-Patent-Domain Survey, 2024, </a:t>
            </a:r>
            <a:r>
              <a:rPr lang="en-IN" sz="2200" dirty="0" err="1"/>
              <a:t>arXiv</a:t>
            </a:r>
            <a:r>
              <a:rPr lang="en-IN" sz="2200" dirty="0"/>
              <a:t> — survey of transformer patent methods</a:t>
            </a:r>
            <a:br>
              <a:rPr lang="en-IN" sz="2200" dirty="0"/>
            </a:br>
            <a:r>
              <a:rPr lang="en-IN" sz="2200" dirty="0"/>
              <a:t>10. Shi et al. (Job2Skills), 2020, ACM SIGKDD — market/salience-aware skill extraction</a:t>
            </a:r>
            <a:br>
              <a:rPr lang="en-IN" sz="2200" dirty="0"/>
            </a:br>
            <a:r>
              <a:rPr lang="en-IN" sz="2200" dirty="0"/>
              <a:t>11. Zhang et al. (</a:t>
            </a:r>
            <a:r>
              <a:rPr lang="en-IN" sz="2200" dirty="0" err="1"/>
              <a:t>SkillSpan</a:t>
            </a:r>
            <a:r>
              <a:rPr lang="en-IN" sz="2200" dirty="0"/>
              <a:t>), 2022, NAACL — </a:t>
            </a:r>
            <a:r>
              <a:rPr lang="en-IN" sz="2200" dirty="0" err="1"/>
              <a:t>JobBERT</a:t>
            </a:r>
            <a:r>
              <a:rPr lang="en-IN" sz="2200" dirty="0"/>
              <a:t> sequence </a:t>
            </a:r>
            <a:r>
              <a:rPr lang="en-IN" sz="2200" dirty="0" err="1"/>
              <a:t>labeling</a:t>
            </a:r>
            <a:br>
              <a:rPr lang="en-IN" sz="2200" dirty="0"/>
            </a:br>
            <a:r>
              <a:rPr lang="en-IN" sz="2200" dirty="0"/>
              <a:t>12. Gnehm et al., 2022 — fine-grained skill classification (Swiss/German job ads)</a:t>
            </a:r>
            <a:br>
              <a:rPr lang="en-IN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1728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6726E-4AC5-43FF-FF58-0D4EB242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B33589-B35D-4A47-D168-BBD87808AC7B}"/>
              </a:ext>
            </a:extLst>
          </p:cNvPr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FCB106-88F7-9738-EFD1-9E4350F68D7B}"/>
              </a:ext>
            </a:extLst>
          </p:cNvPr>
          <p:cNvSpPr/>
          <p:nvPr/>
        </p:nvSpPr>
        <p:spPr>
          <a:xfrm>
            <a:off x="132080" y="3383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 </a:t>
            </a:r>
            <a:endParaRPr lang="en-US" sz="3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F00A7EE-DE4A-A50C-12F2-03F42DD4D5E1}"/>
              </a:ext>
            </a:extLst>
          </p:cNvPr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BCSE306L  ·  Slide 16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2ED42E-7D01-FDDB-695E-2219356E3C4E}"/>
              </a:ext>
            </a:extLst>
          </p:cNvPr>
          <p:cNvSpPr txBox="1"/>
          <p:nvPr/>
        </p:nvSpPr>
        <p:spPr>
          <a:xfrm>
            <a:off x="383931" y="1599486"/>
            <a:ext cx="116528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13. "From Data to Insight," 2024, MDPI </a:t>
            </a:r>
            <a:r>
              <a:rPr lang="en-IN" i="1" dirty="0"/>
              <a:t>Information</a:t>
            </a:r>
            <a:r>
              <a:rPr lang="en-IN" dirty="0"/>
              <a:t> — end-to-end </a:t>
            </a:r>
            <a:r>
              <a:rPr lang="en-IN" dirty="0" err="1"/>
              <a:t>labor</a:t>
            </a:r>
            <a:r>
              <a:rPr lang="en-IN" dirty="0"/>
              <a:t>-market intelligence pipeline</a:t>
            </a:r>
            <a:br>
              <a:rPr lang="en-IN" dirty="0"/>
            </a:br>
            <a:r>
              <a:rPr lang="en-IN" dirty="0"/>
              <a:t>14. GitHub-funding study, 2023, Organization Science (INFORMS) — difference-in-differences on OSS engagement</a:t>
            </a:r>
            <a:br>
              <a:rPr lang="en-IN" dirty="0"/>
            </a:br>
            <a:r>
              <a:rPr lang="en-IN" dirty="0"/>
              <a:t>15. "Measuring Software Innovation w/ OSS," 2024, </a:t>
            </a:r>
            <a:r>
              <a:rPr lang="en-IN" dirty="0" err="1"/>
              <a:t>arXiv</a:t>
            </a:r>
            <a:r>
              <a:rPr lang="en-IN" dirty="0"/>
              <a:t> — OSS indicators (commits/stars/forks/deps)</a:t>
            </a:r>
            <a:br>
              <a:rPr lang="en-IN" dirty="0"/>
            </a:br>
            <a:r>
              <a:rPr lang="en-IN" dirty="0"/>
              <a:t>16. Liang, Liu &amp; Chen, 2022, Entropy (MDPI, Q2) — networked Dempster–Shafer multi-evidence fusion</a:t>
            </a:r>
            <a:br>
              <a:rPr lang="en-IN" dirty="0"/>
            </a:br>
            <a:r>
              <a:rPr lang="en-IN" dirty="0"/>
              <a:t>17. Info-fusion for large-scale multi-source data, 2024, Information Fusion (Elsevier, Q1) — D-S evidence theory (BPA)</a:t>
            </a:r>
            <a:br>
              <a:rPr lang="en-IN" dirty="0"/>
            </a:br>
            <a:r>
              <a:rPr lang="en-IN" dirty="0"/>
              <a:t>18. </a:t>
            </a:r>
            <a:r>
              <a:rPr lang="en-IN" dirty="0" err="1"/>
              <a:t>Darban</a:t>
            </a:r>
            <a:r>
              <a:rPr lang="en-IN" dirty="0"/>
              <a:t> et al., 2024, ACM Computing Surveys (Q1) — deep time-series anomaly detection survey</a:t>
            </a:r>
            <a:br>
              <a:rPr lang="en-IN" dirty="0"/>
            </a:br>
            <a:r>
              <a:rPr lang="en-IN" dirty="0"/>
              <a:t>19. </a:t>
            </a:r>
            <a:r>
              <a:rPr lang="en-IN" dirty="0" err="1"/>
              <a:t>Nakshatri</a:t>
            </a:r>
            <a:r>
              <a:rPr lang="en-IN" dirty="0"/>
              <a:t> et al., 2023, Findings of EMNLP — temporal-guided news-stream clustering + LLM summaries</a:t>
            </a:r>
            <a:br>
              <a:rPr lang="en-IN" dirty="0"/>
            </a:br>
            <a:r>
              <a:rPr lang="en-IN" dirty="0"/>
              <a:t>20. Hettiarachchi et al. (Embed2Detect), 2021, Knowledge-Based Systems (Elsevier) — temporal event detection</a:t>
            </a:r>
            <a:br>
              <a:rPr lang="en-IN" dirty="0"/>
            </a:br>
            <a:r>
              <a:rPr lang="en-IN" dirty="0"/>
              <a:t>21. Moulavi et al., 2014, SIAM SDM — DBCV (density-based clustering validation index)</a:t>
            </a:r>
            <a:br>
              <a:rPr lang="en-IN" dirty="0"/>
            </a:br>
            <a:r>
              <a:rPr lang="en-IN" dirty="0"/>
              <a:t>22. </a:t>
            </a:r>
            <a:r>
              <a:rPr lang="en-IN" dirty="0" err="1"/>
              <a:t>Freunek</a:t>
            </a:r>
            <a:r>
              <a:rPr lang="en-IN" dirty="0"/>
              <a:t> &amp; Niggli (</a:t>
            </a:r>
            <a:r>
              <a:rPr lang="en-IN" dirty="0" err="1"/>
              <a:t>DynaPTI</a:t>
            </a:r>
            <a:r>
              <a:rPr lang="en-IN" dirty="0"/>
              <a:t>), 2023, Frontiers in AI — text-mining + ML dynamic patent tech indicator</a:t>
            </a:r>
            <a:br>
              <a:rPr lang="en-IN" dirty="0"/>
            </a:br>
            <a:r>
              <a:rPr lang="en-IN" dirty="0"/>
              <a:t>23. On the Evaluation of Machine-Generated Reports (ARGUE), 2024, </a:t>
            </a:r>
            <a:r>
              <a:rPr lang="en-IN" dirty="0" err="1"/>
              <a:t>arXiv</a:t>
            </a:r>
            <a:r>
              <a:rPr lang="en-IN" dirty="0"/>
              <a:t> (SIGIR-track) — LLM report evaluation framework</a:t>
            </a:r>
            <a:br>
              <a:rPr lang="en-IN" dirty="0"/>
            </a:br>
            <a:r>
              <a:rPr lang="en-IN" dirty="0"/>
              <a:t>24. LLM/Agent-as-Data-Analyst Survey, 2025, </a:t>
            </a:r>
            <a:r>
              <a:rPr lang="en-IN" dirty="0" err="1"/>
              <a:t>arXiv</a:t>
            </a:r>
            <a:r>
              <a:rPr lang="en-IN" dirty="0"/>
              <a:t> — survey of LLM data-analysis agents</a:t>
            </a:r>
            <a:br>
              <a:rPr lang="en-IN" dirty="0"/>
            </a:br>
            <a:r>
              <a:rPr lang="en-IN" dirty="0"/>
              <a:t>25. Detecting Emerging Technologies via Weak Signals, 2022, </a:t>
            </a:r>
            <a:r>
              <a:rPr lang="en-IN" dirty="0" err="1"/>
              <a:t>arXiv</a:t>
            </a:r>
            <a:r>
              <a:rPr lang="en-IN" dirty="0"/>
              <a:t>/</a:t>
            </a:r>
            <a:r>
              <a:rPr lang="en-IN" dirty="0" err="1"/>
              <a:t>Scientometrics</a:t>
            </a:r>
            <a:r>
              <a:rPr lang="en-IN" dirty="0"/>
              <a:t>-adjacent — BERT keyword extraction + weak-signal analysis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258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3129</Words>
  <Application>Microsoft Macintosh PowerPoint</Application>
  <PresentationFormat>Widescreen</PresentationFormat>
  <Paragraphs>299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S.Nishanth</cp:lastModifiedBy>
  <cp:revision>3</cp:revision>
  <dcterms:created xsi:type="dcterms:W3CDTF">2026-08-06T04:13:52Z</dcterms:created>
  <dcterms:modified xsi:type="dcterms:W3CDTF">2026-08-06T05:50:59Z</dcterms:modified>
</cp:coreProperties>
</file>